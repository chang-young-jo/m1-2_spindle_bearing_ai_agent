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0.198326</c:v>
                </c:pt>
                <c:pt idx="1">
                  <c:v>0.404906</c:v>
                </c:pt>
                <c:pt idx="2">
                  <c:v>0.71229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1.270904</c:v>
                </c:pt>
                <c:pt idx="1">
                  <c:v>2.860305</c:v>
                </c:pt>
                <c:pt idx="2">
                  <c:v>4.588883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1.80447</c:v>
                </c:pt>
                <c:pt idx="1">
                  <c:v>4.09413</c:v>
                </c:pt>
                <c:pt idx="2">
                  <c:v>8.744522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100584" cy="5166360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96696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Malgun Gothic"/>
              </a:defRPr>
            </a:pPr>
            <a:r>
              <a:t>SPINDLE BEARING</a:t>
            </a:r>
          </a:p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Malgun Gothic"/>
              </a:defRPr>
            </a:pPr>
            <a:r>
              <a:t>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3584448"/>
            <a:ext cx="97840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0E1FF"/>
                </a:solidFill>
                <a:latin typeface="Malgun Gothic"/>
              </a:defRPr>
            </a:pPr>
            <a:r>
              <a:t>공작기계 주축 진동 데이터 기반 AI 베어링 결함 진단 지원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4791456"/>
            <a:ext cx="6492240" cy="384048"/>
          </a:xfrm>
          <a:prstGeom prst="round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4860036"/>
            <a:ext cx="6272783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RAW  ·  RMS  ·  FFT  ·  ENVELOPE FFT  · 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6062472"/>
            <a:ext cx="9144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Malgun Gothic"/>
              </a:defRPr>
            </a:pPr>
            <a:r>
              <a:t>2026 CODISEI AI Native Master  | 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01  개발 배경 및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공작기계 주축의 품질 진단은 데이터 분석과 엔지니어의 해석이 함께 필요합니다.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511296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59436" cy="3566160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28800"/>
            <a:ext cx="3099815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기존 업무의 어려움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50008"/>
            <a:ext cx="3099815" cy="2788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진동 RAW 데이터 처리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주파수 분석과 피크 탐색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베어링 제원별 계산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진단 결과 문서화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45920"/>
            <a:ext cx="3511296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45920"/>
            <a:ext cx="59436" cy="3566160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828800"/>
            <a:ext cx="3099815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개발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50008"/>
            <a:ext cx="3099815" cy="2788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측정 데이터 입력부터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정량적 신호 분석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결함주파수 후보 비교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AI 보고서 생성까지 통합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511296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59436" cy="3566160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828800"/>
            <a:ext cx="3099815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350008"/>
            <a:ext cx="3099815" cy="2788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분석 절차 표준화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검토 근거 가시화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보고서 작성 지원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품질 엔지니어의 의사결정 보조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78D"/>
                </a:solidFill>
                <a:latin typeface="Malgun Gothic"/>
              </a:defRPr>
            </a:pPr>
            <a:r>
              <a:t>※ 본 시스템은 진단 지원 프로토타입이며 실제 베어링 결함을 확정하지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02  실측 데이터와 베어링 제원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V-MCT 직결형 주축의 실제 3축 가속도 진동 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27249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01368"/>
            <a:ext cx="2423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860DE"/>
                </a:solidFill>
                <a:latin typeface="Malgun Gothic"/>
              </a:defRPr>
            </a:pPr>
            <a:r>
              <a:t>25.6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13432"/>
            <a:ext cx="242316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샘플링 주파수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00200"/>
            <a:ext cx="27249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801368"/>
            <a:ext cx="2423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860DE"/>
                </a:solidFill>
                <a:latin typeface="Malgun Gothic"/>
              </a:defRPr>
            </a:pPr>
            <a:r>
              <a:t>729,569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313432"/>
            <a:ext cx="242316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RAW 샘플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00200"/>
            <a:ext cx="27249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2423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860DE"/>
                </a:solidFill>
                <a:latin typeface="Malgun Gothic"/>
              </a:defRPr>
            </a:pPr>
            <a:r>
              <a:t>3 RPM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313432"/>
            <a:ext cx="242316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1000 / 2000 / 3000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600200"/>
            <a:ext cx="27249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2912" y="1801368"/>
            <a:ext cx="2423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860DE"/>
                </a:solidFill>
                <a:latin typeface="Malgun Gothic"/>
              </a:defRPr>
            </a:pPr>
            <a:r>
              <a:t>3축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2313432"/>
            <a:ext cx="242316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X / Y / 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90672"/>
            <a:ext cx="5440680" cy="2450592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090672"/>
            <a:ext cx="59436" cy="2450592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273552"/>
            <a:ext cx="50292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베어링 기하학적 제원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794760"/>
            <a:ext cx="5029200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전동체 25개  ·  직경 8.731 mm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PCD 89 mm  ·  접촉각 18°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3090672"/>
            <a:ext cx="5276088" cy="2450592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2784" y="3090672"/>
            <a:ext cx="59436" cy="2450592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3273552"/>
            <a:ext cx="4864607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분석 구간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3794760"/>
            <a:ext cx="4864607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FFT·Envelope FFT: 2–7 / 12–17 / 22–27초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Firebase RMS 비교: 2–8 / 12–18 / 22–28초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03  서비스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사용자 웹 화면과 신호처리 서버, 데이터베이스, 생성형 AI를 연계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2148840" cy="109728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295144"/>
            <a:ext cx="18562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사용자 /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852928"/>
            <a:ext cx="185623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RAW 업로드</a:t>
            </a:r>
          </a:p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분석 결과·그래프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2" y="1993392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993392"/>
            <a:ext cx="2834640" cy="109728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295144"/>
            <a:ext cx="25420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Render /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52928"/>
            <a:ext cx="254203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RMS · FFT · Envelope FFT</a:t>
            </a:r>
          </a:p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결함주파수·근거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132588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1325880"/>
            <a:ext cx="2423160" cy="109728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27632"/>
            <a:ext cx="213055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Firebase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185415"/>
            <a:ext cx="213055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RMS 데이터</a:t>
            </a:r>
          </a:p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대화 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315468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3952" y="3154680"/>
            <a:ext cx="2423160" cy="109728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56432"/>
            <a:ext cx="213055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OpenAI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014216"/>
            <a:ext cx="213055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한국어 AI 진단</a:t>
            </a:r>
          </a:p>
          <a:p>
            <a:pPr>
              <a:spcAft>
                <a:spcPts val="800"/>
              </a:spcAft>
              <a:defRPr sz="1300" b="0">
                <a:solidFill>
                  <a:srgbClr val="1E2B41"/>
                </a:solidFill>
                <a:latin typeface="Malgun Gothic"/>
              </a:defRPr>
            </a:pPr>
            <a:r>
              <a:t>보고서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2072" y="2688336"/>
            <a:ext cx="320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860DE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2697480"/>
            <a:ext cx="320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860DE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11680"/>
            <a:ext cx="3657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2860DE"/>
                </a:solidFill>
                <a:latin typeface="Malgun Gothic"/>
              </a:defRPr>
            </a:pPr>
            <a: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767328"/>
            <a:ext cx="3657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2860DE"/>
                </a:solidFill>
                <a:latin typeface="Malgun Gothic"/>
              </a:defRPr>
            </a:pPr>
            <a:r>
              <a:t>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71432" y="1993392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71432" y="1993392"/>
            <a:ext cx="59436" cy="2011680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2176272"/>
            <a:ext cx="1874519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결과 제공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2697480"/>
            <a:ext cx="1874519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판정표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AI 보고서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JSON 다운로드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04  RAW 자동 분석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정량 신호처리와 AI 자연어 해석을 분리하여 근거 기반 결과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901952"/>
            <a:ext cx="530352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1970532"/>
            <a:ext cx="310896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505456"/>
            <a:ext cx="32004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RAW 파일 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37360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36592" y="1901952"/>
            <a:ext cx="530352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970532"/>
            <a:ext cx="310896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505456"/>
            <a:ext cx="32004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RPM·축별 분리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737360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22792" y="1901952"/>
            <a:ext cx="530352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1970532"/>
            <a:ext cx="310896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2505456"/>
            <a:ext cx="32004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RMS / FFT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11879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776472"/>
            <a:ext cx="530352" cy="384048"/>
          </a:xfrm>
          <a:prstGeom prst="round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3845052"/>
            <a:ext cx="310896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379976"/>
            <a:ext cx="32004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Envelope FFT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611879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36592" y="3776472"/>
            <a:ext cx="530352" cy="384048"/>
          </a:xfrm>
          <a:prstGeom prst="round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845052"/>
            <a:ext cx="310896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379976"/>
            <a:ext cx="32004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주파수 후보 판정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3611879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22792" y="3776472"/>
            <a:ext cx="530352" cy="384048"/>
          </a:xfrm>
          <a:prstGeom prst="round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19" y="3845052"/>
            <a:ext cx="310896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4379976"/>
            <a:ext cx="32004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AI 진단 보고서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860DE"/>
                </a:solidFill>
                <a:latin typeface="Malgun Gothic"/>
              </a:defRPr>
            </a:pPr>
            <a:r>
              <a:t>핵심 설계: AI에 원시 신호 대신 Python이 계산한 RMS·주파수·SNR·판정 근거를 전달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05  베어링 결함주파수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FTF / BPFO / BPFI / BSF의 이론값과 측정 피크를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1709928"/>
            <a:ext cx="1097280" cy="594360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224" y="1709928"/>
            <a:ext cx="3840480" cy="594360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47088"/>
            <a:ext cx="36576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2704" y="1709928"/>
            <a:ext cx="1828800" cy="594360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1847088"/>
            <a:ext cx="1645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1000 RPM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1504" y="1709928"/>
            <a:ext cx="1828800" cy="594360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1847088"/>
            <a:ext cx="1645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2000 RPM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0304" y="1709928"/>
            <a:ext cx="1828800" cy="594360"/>
          </a:xfrm>
          <a:prstGeom prst="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847088"/>
            <a:ext cx="1645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3000 RPM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2322576"/>
            <a:ext cx="10972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487168"/>
            <a:ext cx="9326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FTF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2224" y="2322576"/>
            <a:ext cx="38404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2487168"/>
            <a:ext cx="36758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케이지 회전주파수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32704" y="2322576"/>
            <a:ext cx="1828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2487168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7.56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61504" y="2322576"/>
            <a:ext cx="1828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487168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15.11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2322576"/>
            <a:ext cx="1828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487168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22.67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" y="3026664"/>
            <a:ext cx="109728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191256"/>
            <a:ext cx="9326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BPFO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92224" y="3026664"/>
            <a:ext cx="384048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01952" y="3191256"/>
            <a:ext cx="36758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외륜 통과주파수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32704" y="3026664"/>
            <a:ext cx="182880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2432" y="3191256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188.90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61504" y="3026664"/>
            <a:ext cx="182880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1" y="3191256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377.79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0304" y="3026664"/>
            <a:ext cx="182880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0032" y="3191256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566.69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" y="3730752"/>
            <a:ext cx="10972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895344"/>
            <a:ext cx="9326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BPFI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92224" y="3730752"/>
            <a:ext cx="38404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01952" y="3895344"/>
            <a:ext cx="36758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내륜 통과주파수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32704" y="3730752"/>
            <a:ext cx="1828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2432" y="3895344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227.77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61504" y="3730752"/>
            <a:ext cx="1828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1231" y="3895344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455.54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90304" y="3730752"/>
            <a:ext cx="1828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3895344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683.31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" y="4434840"/>
            <a:ext cx="109728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4599431"/>
            <a:ext cx="9326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B41"/>
                </a:solidFill>
                <a:latin typeface="Malgun Gothic"/>
              </a:defRPr>
            </a:pPr>
            <a:r>
              <a:t>BSF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92224" y="4434840"/>
            <a:ext cx="384048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01952" y="4599431"/>
            <a:ext cx="367588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B41"/>
                </a:solidFill>
                <a:latin typeface="Malgun Gothic"/>
              </a:defRPr>
            </a:pPr>
            <a:r>
              <a:t>전동체 자전주파수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32704" y="4434840"/>
            <a:ext cx="182880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42432" y="4599431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B41"/>
                </a:solidFill>
                <a:latin typeface="Malgun Gothic"/>
              </a:defRPr>
            </a:pPr>
            <a:r>
              <a:t>84.21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61504" y="4434840"/>
            <a:ext cx="182880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71231" y="4599431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B41"/>
                </a:solidFill>
                <a:latin typeface="Malgun Gothic"/>
              </a:defRPr>
            </a:pPr>
            <a:r>
              <a:t>168.41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0304" y="4434840"/>
            <a:ext cx="1828800" cy="667512"/>
          </a:xfrm>
          <a:prstGeom prst="rect">
            <a:avLst/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0032" y="4599431"/>
            <a:ext cx="1664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B41"/>
                </a:solidFill>
                <a:latin typeface="Malgun Gothic"/>
              </a:defRPr>
            </a:pPr>
            <a:r>
              <a:t>252.62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78D"/>
                </a:solidFill>
                <a:latin typeface="Malgun Gothic"/>
              </a:defRPr>
            </a:pPr>
            <a:r>
              <a:t>단위: Hz  |  이론값 근접 피크는 결함 후보일 뿐, 결함 확정 근거는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06  실제 웹서비스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RAW 업로드 → 분석 → AI 진단까지 클라우드 서비스에서 동작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07 / 12</a:t>
            </a:r>
          </a:p>
        </p:txBody>
      </p:sp>
      <p:pic>
        <p:nvPicPr>
          <p:cNvPr id="9" name="Picture 8" descr="image(20261010-12123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87" y="1508760"/>
            <a:ext cx="6877465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82127" y="1591056"/>
            <a:ext cx="359359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82127" y="1591056"/>
            <a:ext cx="59436" cy="4023360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773936"/>
            <a:ext cx="3182112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배포 및 기능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95144"/>
            <a:ext cx="3182112" cy="3246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프론트엔드: Vercel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백엔드: Render / FastAPI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업로드 API 정상 등록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실제 RAW 분석 성공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한국어 AI 보고서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15584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78D"/>
                </a:solidFill>
                <a:latin typeface="Malgun Gothic"/>
              </a:defRPr>
            </a:pPr>
            <a:r>
              <a:t>실제 프로젝트 웹 화면 캡처 (오류 수정 이전의 업로드 화면으로, 최종 정상 결과 화면은 별도 확보 필요)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07  RMS 분석 결과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Firebase 0.1초 RMS 데이터 기반 6초 평균값과 비교: 9개 조합 일치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08 / 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1600200"/>
          <a:ext cx="7498079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49640" y="1673352"/>
            <a:ext cx="2862072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9640" y="1673352"/>
            <a:ext cx="59436" cy="3566160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9952" y="1856232"/>
            <a:ext cx="2450591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검증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2377440"/>
            <a:ext cx="2450591" cy="2788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3개 RPM × 3개 방향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총 9개 조건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소수점 6자리까지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기준값 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9778D"/>
                </a:solidFill>
                <a:latin typeface="Malgun Gothic"/>
              </a:defRPr>
            </a:pPr>
            <a:r>
              <a:t>단위: m/s²  |  6초 Firebase 비교 RMS (FFT 분석 5초 구간과 구별)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08  FFT · Envelope FFT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총 72개 후보의 구성 검증 및 대표 사례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27157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73936"/>
            <a:ext cx="228600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860DE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76856"/>
            <a:ext cx="22860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회전수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572768"/>
            <a:ext cx="27157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773936"/>
            <a:ext cx="228600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860DE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276856"/>
            <a:ext cx="22860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측정 방향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1572768"/>
            <a:ext cx="27157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773936"/>
            <a:ext cx="228600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860DE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276856"/>
            <a:ext cx="22860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분석 방법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572768"/>
            <a:ext cx="27157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773936"/>
            <a:ext cx="228600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860DE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2276856"/>
            <a:ext cx="22860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주파수 유형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980944"/>
            <a:ext cx="5486400" cy="2331720"/>
          </a:xfrm>
          <a:prstGeom prst="roundRect">
            <a:avLst/>
          </a:prstGeom>
          <a:solidFill>
            <a:srgbClr val="132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410712"/>
            <a:ext cx="47548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FFFFFF"/>
                </a:solidFill>
                <a:latin typeface="Malgun Gothic"/>
              </a:defRPr>
            </a:pPr>
            <a:r>
              <a:t>72개 후보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25112"/>
            <a:ext cx="4846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3 RPM × 3축 × 2방법 × 4주파수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80944"/>
            <a:ext cx="510235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980944"/>
            <a:ext cx="59436" cy="2331720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163824"/>
            <a:ext cx="4690872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대표 판정 사례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685031"/>
            <a:ext cx="4690872" cy="1554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1000 RPM / Y / Envelope FFT / BSF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SNR 약 5.2 dB  ·  강한 탐색 피크 = 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623560"/>
            <a:ext cx="108813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78D"/>
                </a:solidFill>
                <a:latin typeface="Malgun Gothic"/>
              </a:defRPr>
            </a:pPr>
            <a:r>
              <a:t>SNR 한 가지 값만으로 결함을 확정하지 않도록 복합 판정 조건 적용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09  AI Native 구현과 기술적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계산 가능한 값은 Python이 산출하고, 생성형 AI는 해석·설명·보고서 작성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00200"/>
            <a:ext cx="35021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00200"/>
            <a:ext cx="59436" cy="3474720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83080"/>
            <a:ext cx="3090672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신호처리 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04288"/>
            <a:ext cx="3090672" cy="2697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실제 RAW 진동 데이터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RMS / FFT / Envelope FFT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이론주파수·측정 피크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SNR·후보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600200"/>
            <a:ext cx="35021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600200"/>
            <a:ext cx="59436" cy="3474720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783080"/>
            <a:ext cx="3090672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근거 데이터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304288"/>
            <a:ext cx="3090672" cy="2697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RPM × 축별 9개 분석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FFT·Envelope 72개 후보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이론값·측정값·판정값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JSON 구조화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5021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59436" cy="3474720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783080"/>
            <a:ext cx="3090672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생성형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304288"/>
            <a:ext cx="3090672" cy="2697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근거 중심 한국어 보고서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분석 결과와 한계 설명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추가 점검 방향 제안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사용자 자연어 질의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14416"/>
            <a:ext cx="108813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9778D"/>
                </a:solidFill>
                <a:latin typeface="Malgun Gothic"/>
              </a:defRPr>
            </a:pPr>
            <a:r>
              <a:t>※ RAG 기반 검색이나 자율 설비 제어는 현재 구현 범위에 포함하지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10  라이브 시연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발표 현장에서는 사전 생성 결과를 백업으로 준비하여 네트워크 지연에 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27048"/>
            <a:ext cx="1074420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682495"/>
            <a:ext cx="566928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751075"/>
            <a:ext cx="347472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8216" y="1673351"/>
            <a:ext cx="27432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서비스 접속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00784"/>
            <a:ext cx="603504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Vercel 배포 화면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68296"/>
            <a:ext cx="1074420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2523744"/>
            <a:ext cx="566928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2592324"/>
            <a:ext cx="347472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2514600"/>
            <a:ext cx="27432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RAW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542032"/>
            <a:ext cx="603504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약 54MB .lst 파일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9544"/>
            <a:ext cx="1074420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3364991"/>
            <a:ext cx="566928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433572"/>
            <a:ext cx="347472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8216" y="3355848"/>
            <a:ext cx="27432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RMS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83279"/>
            <a:ext cx="603504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9개 조건·그래프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50791"/>
            <a:ext cx="1074420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" y="4206240"/>
            <a:ext cx="566928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4274820"/>
            <a:ext cx="347472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4197096"/>
            <a:ext cx="27432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FFT 판정표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24528"/>
            <a:ext cx="603504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FTF·BPFO·BPFI·BSF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92040"/>
            <a:ext cx="1074420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688" y="5047488"/>
            <a:ext cx="566928" cy="384048"/>
          </a:xfrm>
          <a:prstGeom prst="round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5116068"/>
            <a:ext cx="347472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8216" y="5038344"/>
            <a:ext cx="27432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AI 보고서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065776"/>
            <a:ext cx="603504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B41"/>
                </a:solidFill>
                <a:latin typeface="Malgun Gothic"/>
              </a:defRPr>
            </a:pPr>
            <a:r>
              <a:t>진단 요약·주의사항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989320"/>
            <a:ext cx="10789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9778D"/>
                </a:solidFill>
                <a:latin typeface="Malgun Gothic"/>
              </a:defRPr>
            </a:pPr>
            <a:r>
              <a:t>시연 팁  |  RAW 분석은 서버 시작·업로드·AI 생성 시간에 따라 지연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84048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34D"/>
                </a:solidFill>
                <a:latin typeface="Malgun Gothic"/>
              </a:defRPr>
            </a:pPr>
            <a:r>
              <a:t>11  성과 · 한계 · 향후 발전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96696"/>
            <a:ext cx="10972800" cy="4023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78D"/>
                </a:solidFill>
                <a:latin typeface="Malgun Gothic"/>
              </a:defRPr>
            </a:pPr>
            <a:r>
              <a:t>제조 현장 적용을 위한 다음 검증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446520"/>
            <a:ext cx="10972800" cy="10972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CODISEI AI Native Master  |  Spindle Bearing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9778D"/>
                </a:solidFill>
                <a:latin typeface="Malgun Gothic"/>
              </a:defRPr>
            </a:pPr>
            <a: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27632"/>
            <a:ext cx="3520440" cy="3593592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27632"/>
            <a:ext cx="59436" cy="3593592"/>
          </a:xfrm>
          <a:prstGeom prst="rect">
            <a:avLst/>
          </a:prstGeom>
          <a:solidFill>
            <a:srgbClr val="18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10512"/>
            <a:ext cx="310896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확인된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31720"/>
            <a:ext cx="3108960" cy="2816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RAW 업로드 및 AI 보고서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RMS 9개 값 일치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72개 주파수 후보 구성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Render·Vercel 배포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627632"/>
            <a:ext cx="3520440" cy="3593592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627632"/>
            <a:ext cx="59436" cy="3593592"/>
          </a:xfrm>
          <a:prstGeom prst="rect">
            <a:avLst/>
          </a:prstGeom>
          <a:solidFill>
            <a:srgbClr val="286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10512"/>
            <a:ext cx="310896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현재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3108960" cy="2816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단일 측정 중심 데이터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실제 결함 정답 검증 부족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결함 검출 정확도 미산정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피크 일치 ≠ 결함 확정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27632"/>
            <a:ext cx="3520440" cy="3593592"/>
          </a:xfrm>
          <a:prstGeom prst="roundRect">
            <a:avLst/>
          </a:prstGeom>
          <a:solidFill>
            <a:srgbClr val="FFFFFF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1627632"/>
            <a:ext cx="59436" cy="3593592"/>
          </a:xfrm>
          <a:prstGeom prst="rect">
            <a:avLst/>
          </a:prstGeom>
          <a:solidFill>
            <a:srgbClr val="00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810512"/>
            <a:ext cx="310896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3234D"/>
                </a:solidFill>
                <a:latin typeface="Malgun Gothic"/>
              </a:defRPr>
            </a:pPr>
            <a:r>
              <a:t>향후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331720"/>
            <a:ext cx="3108960" cy="2816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정상·결함 데이터 확보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반복 측정 및 오더 분석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정비 이력 연계 RAG</a:t>
            </a:r>
          </a:p>
          <a:p>
            <a:pPr>
              <a:spcAft>
                <a:spcPts val="800"/>
              </a:spcAft>
              <a:defRPr sz="1400" b="0">
                <a:solidFill>
                  <a:srgbClr val="1E2B41"/>
                </a:solidFill>
                <a:latin typeface="Malgun Gothic"/>
              </a:defRPr>
            </a:pPr>
            <a:r>
              <a:t>사내 품질 시스템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87568"/>
            <a:ext cx="106070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3234D"/>
                </a:solidFill>
                <a:latin typeface="Malgun Gothic"/>
              </a:defRPr>
            </a:pPr>
            <a:r>
              <a:t>“정량적 진동 분석과 생성형 AI의 해석을 결합한 현장형 진단 지원 프로토타입”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